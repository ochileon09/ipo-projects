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C70ABB-BBCD-412F-8C96-3D51B1624113}" v="8" dt="2026-08-30T05:46:02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량후 김" userId="2b1a9a6c89e64579" providerId="LiveId" clId="{AD8B4EC1-9391-4168-B4D6-CEECCDFD57E8}"/>
    <pc:docChg chg="custSel addSld delSld modSld">
      <pc:chgData name="량후 김" userId="2b1a9a6c89e64579" providerId="LiveId" clId="{AD8B4EC1-9391-4168-B4D6-CEECCDFD57E8}" dt="2026-08-30T05:46:14.507" v="17" actId="1076"/>
      <pc:docMkLst>
        <pc:docMk/>
      </pc:docMkLst>
      <pc:sldChg chg="addSp delSp modSp mod">
        <pc:chgData name="량후 김" userId="2b1a9a6c89e64579" providerId="LiveId" clId="{AD8B4EC1-9391-4168-B4D6-CEECCDFD57E8}" dt="2026-08-30T05:45:30.912" v="8" actId="1076"/>
        <pc:sldMkLst>
          <pc:docMk/>
          <pc:sldMk cId="618734432" sldId="259"/>
        </pc:sldMkLst>
        <pc:picChg chg="add mod">
          <ac:chgData name="량후 김" userId="2b1a9a6c89e64579" providerId="LiveId" clId="{AD8B4EC1-9391-4168-B4D6-CEECCDFD57E8}" dt="2026-08-30T05:45:30.912" v="8" actId="1076"/>
          <ac:picMkLst>
            <pc:docMk/>
            <pc:sldMk cId="618734432" sldId="259"/>
            <ac:picMk id="9" creationId="{555CB64C-86F7-B632-066A-FC9B6E4BA838}"/>
          </ac:picMkLst>
        </pc:picChg>
        <pc:picChg chg="del">
          <ac:chgData name="량후 김" userId="2b1a9a6c89e64579" providerId="LiveId" clId="{AD8B4EC1-9391-4168-B4D6-CEECCDFD57E8}" dt="2026-08-30T05:44:44.987" v="0" actId="478"/>
          <ac:picMkLst>
            <pc:docMk/>
            <pc:sldMk cId="618734432" sldId="259"/>
            <ac:picMk id="12" creationId="{00000000-0000-0000-0000-000000000000}"/>
          </ac:picMkLst>
        </pc:picChg>
      </pc:sldChg>
      <pc:sldChg chg="addSp delSp modSp mod">
        <pc:chgData name="량후 김" userId="2b1a9a6c89e64579" providerId="LiveId" clId="{AD8B4EC1-9391-4168-B4D6-CEECCDFD57E8}" dt="2026-08-30T05:45:51.169" v="12" actId="1076"/>
        <pc:sldMkLst>
          <pc:docMk/>
          <pc:sldMk cId="799182147" sldId="260"/>
        </pc:sldMkLst>
        <pc:picChg chg="add mod">
          <ac:chgData name="량후 김" userId="2b1a9a6c89e64579" providerId="LiveId" clId="{AD8B4EC1-9391-4168-B4D6-CEECCDFD57E8}" dt="2026-08-30T05:45:51.169" v="12" actId="1076"/>
          <ac:picMkLst>
            <pc:docMk/>
            <pc:sldMk cId="799182147" sldId="260"/>
            <ac:picMk id="9" creationId="{FF0E9CFB-AA17-64DE-624E-5104573B30C4}"/>
          </ac:picMkLst>
        </pc:picChg>
        <pc:picChg chg="del">
          <ac:chgData name="량후 김" userId="2b1a9a6c89e64579" providerId="LiveId" clId="{AD8B4EC1-9391-4168-B4D6-CEECCDFD57E8}" dt="2026-08-30T05:45:47.564" v="11" actId="478"/>
          <ac:picMkLst>
            <pc:docMk/>
            <pc:sldMk cId="799182147" sldId="260"/>
            <ac:picMk id="12" creationId="{00000000-0000-0000-0000-000000000000}"/>
          </ac:picMkLst>
        </pc:picChg>
      </pc:sldChg>
      <pc:sldChg chg="addSp delSp modSp mod">
        <pc:chgData name="량후 김" userId="2b1a9a6c89e64579" providerId="LiveId" clId="{AD8B4EC1-9391-4168-B4D6-CEECCDFD57E8}" dt="2026-08-30T05:46:14.507" v="17" actId="1076"/>
        <pc:sldMkLst>
          <pc:docMk/>
          <pc:sldMk cId="1548432301" sldId="261"/>
        </pc:sldMkLst>
        <pc:picChg chg="add mod">
          <ac:chgData name="량후 김" userId="2b1a9a6c89e64579" providerId="LiveId" clId="{AD8B4EC1-9391-4168-B4D6-CEECCDFD57E8}" dt="2026-08-30T05:46:14.507" v="17" actId="1076"/>
          <ac:picMkLst>
            <pc:docMk/>
            <pc:sldMk cId="1548432301" sldId="261"/>
            <ac:picMk id="9" creationId="{075CBA6B-97E9-12B2-08E8-E45B15ADB94D}"/>
          </ac:picMkLst>
        </pc:picChg>
        <pc:picChg chg="del">
          <ac:chgData name="량후 김" userId="2b1a9a6c89e64579" providerId="LiveId" clId="{AD8B4EC1-9391-4168-B4D6-CEECCDFD57E8}" dt="2026-08-30T05:46:00.299" v="13" actId="478"/>
          <ac:picMkLst>
            <pc:docMk/>
            <pc:sldMk cId="1548432301" sldId="261"/>
            <ac:picMk id="12" creationId="{00000000-0000-0000-0000-000000000000}"/>
          </ac:picMkLst>
        </pc:picChg>
      </pc:sldChg>
      <pc:sldChg chg="add del setBg">
        <pc:chgData name="량후 김" userId="2b1a9a6c89e64579" providerId="LiveId" clId="{AD8B4EC1-9391-4168-B4D6-CEECCDFD57E8}" dt="2026-08-30T05:45:00.610" v="6"/>
        <pc:sldMkLst>
          <pc:docMk/>
          <pc:sldMk cId="663920964" sldId="265"/>
        </pc:sldMkLst>
      </pc:sldChg>
      <pc:sldChg chg="add del setBg">
        <pc:chgData name="량후 김" userId="2b1a9a6c89e64579" providerId="LiveId" clId="{AD8B4EC1-9391-4168-B4D6-CEECCDFD57E8}" dt="2026-08-30T05:46:02.382" v="15"/>
        <pc:sldMkLst>
          <pc:docMk/>
          <pc:sldMk cId="120860072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프로젝트의 핵심은 무작위 배정 대신 생활 습관이 비슷한 학생을 연결하는 것입니다.</a:t>
            </a:r>
          </a:p>
          <a:p>
            <a:endParaRPr/>
          </a:p>
          <a:p>
            <a:r>
              <a:t>[Sources]</a:t>
            </a:r>
          </a:p>
          <a:p>
            <a:r>
              <a:t>계획서(2602 김량후).pdf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룸메이트 간 생활 리듬 차이로 생기는 불편과 특별한 신체 조건을 함께 고려합니다.</a:t>
            </a:r>
          </a:p>
          <a:p>
            <a:endParaRPr/>
          </a:p>
          <a:p>
            <a:r>
              <a:t>[Sources]</a:t>
            </a:r>
          </a:p>
          <a:p>
            <a:r>
              <a:t>계획서(2602 김량후).pdf, 1쪽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입력, 처리, 출력이 분리되어 있고 결과와 수정 이력은 데이터베이스에 저장합니다.</a:t>
            </a:r>
          </a:p>
          <a:p>
            <a:endParaRPr/>
          </a:p>
          <a:p>
            <a:r>
              <a:t>[Sources]</a:t>
            </a:r>
          </a:p>
          <a:p>
            <a:r>
              <a:t>계획서(2602 김량후).pdf, 2쪽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학번·학년, 기상·취침 시간, 정리정돈, 소음 민감도, 선호 온도를 입력합니다.</a:t>
            </a:r>
          </a:p>
          <a:p>
            <a:endParaRPr/>
          </a:p>
          <a:p>
            <a:r>
              <a:t>[Sources]</a:t>
            </a:r>
          </a:p>
          <a:p>
            <a:r>
              <a:t>화면구성_스케치_3종.pptx, 원본 슬라이드 캡처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호실 번호, 룸메이트 정보, 생활 습관 비교와 유사도 점수를 보여 줍니다.</a:t>
            </a:r>
          </a:p>
          <a:p>
            <a:endParaRPr/>
          </a:p>
          <a:p>
            <a:r>
              <a:t>[Sources]</a:t>
            </a:r>
          </a:p>
          <a:p>
            <a:r>
              <a:t>화면구성_스케치_3종.pptx, 원본 슬라이드 캡처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배정 현황을 검색하고 필요한 조합은 수동으로 수정할 수 있습니다.</a:t>
            </a:r>
          </a:p>
          <a:p>
            <a:endParaRPr/>
          </a:p>
          <a:p>
            <a:r>
              <a:t>[Sources]</a:t>
            </a:r>
          </a:p>
          <a:p>
            <a:r>
              <a:t>화면구성_스케치_3종.pptx, 원본 슬라이드 캡처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초반에는 화면과 매칭 로직을 완성하고, 후반에는 Supabase 저장과 관리자 화면을 붙입니다.</a:t>
            </a:r>
          </a:p>
          <a:p>
            <a:endParaRPr/>
          </a:p>
          <a:p>
            <a:r>
              <a:t>[Sources]</a:t>
            </a:r>
          </a:p>
          <a:p>
            <a:r>
              <a:t>계획서(2602 김량후).pdf, 4쪽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정확도는 가중치와 반복 테스트로 보정하고, 서버 오류는 메시지와 공식 문서를 먼저 확인합니다.</a:t>
            </a:r>
          </a:p>
          <a:p>
            <a:endParaRPr/>
          </a:p>
          <a:p>
            <a:r>
              <a:t>[Sources]</a:t>
            </a:r>
          </a:p>
          <a:p>
            <a:r>
              <a:t>계획서(2602 김량후).pdf, 5쪽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 자료 제작에는 ChatGPT의 Codex 기능을 사용했습니다.</a:t>
            </a:r>
          </a:p>
          <a:p>
            <a:endParaRPr/>
          </a:p>
          <a:p>
            <a:r>
              <a:t>[Sources]</a:t>
            </a:r>
          </a:p>
          <a:p>
            <a:r>
              <a:t>계획서(2602 김량후).pdf의 사용 AI 표기; 발표 자료 제작 도구: ChatGPT (Codex)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83BB467-B02E-4FAD-B27F-FEB45C6C1F66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723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AFCBFF"/>
                </a:solidFill>
              </a:defRPr>
            </a:pPr>
            <a:r>
              <a:rPr sz="1650" b="1">
                <a:solidFill>
                  <a:srgbClr val="AFCBFF"/>
                </a:solidFill>
              </a:rPr>
              <a:t>정보과학 프로젝트 계획 발표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5CD09B-2E71-487E-858F-756FB9BCF94A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8572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생활 습관을 반영한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기숙사 호실 자동 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673548B-433F-40EA-883B-34BD9FBDCB7B}"/>
              </a:ext>
            </a:extLst>
          </p:cNvPr>
          <p:cNvSpPr>
            <a:spLocks noGrp="1"/>
          </p:cNvSpPr>
          <p:nvPr/>
        </p:nvSpPr>
        <p:spPr>
          <a:xfrm>
            <a:off x="714375" y="3838575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D9E2EC"/>
                </a:solidFill>
              </a:defRPr>
            </a:pPr>
            <a:r>
              <a:rPr sz="1800" b="0">
                <a:solidFill>
                  <a:srgbClr val="D9E2EC"/>
                </a:solidFill>
              </a:rPr>
              <a:t>2602 김량후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948563C-EA2F-4A12-8ABA-3B22DCE82E6C}"/>
              </a:ext>
            </a:extLst>
          </p:cNvPr>
          <p:cNvSpPr>
            <a:spLocks noGrp="1"/>
          </p:cNvSpPr>
          <p:nvPr/>
        </p:nvSpPr>
        <p:spPr>
          <a:xfrm>
            <a:off x="8286750" y="1123950"/>
            <a:ext cx="2667000" cy="3429000"/>
          </a:xfrm>
          <a:prstGeom prst="roundRect">
            <a:avLst>
              <a:gd name="adj" fmla="val 5714"/>
            </a:avLst>
          </a:prstGeom>
          <a:solidFill>
            <a:srgbClr val="2F6B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DD837E-1D27-4AD0-9879-7F1D8557BFBA}"/>
              </a:ext>
            </a:extLst>
          </p:cNvPr>
          <p:cNvSpPr>
            <a:spLocks noGrp="1"/>
          </p:cNvSpPr>
          <p:nvPr/>
        </p:nvSpPr>
        <p:spPr>
          <a:xfrm>
            <a:off x="8763000" y="15049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설문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B37EA10-C969-4942-B867-DB8A1E234E55}"/>
              </a:ext>
            </a:extLst>
          </p:cNvPr>
          <p:cNvSpPr>
            <a:spLocks noGrp="1"/>
          </p:cNvSpPr>
          <p:nvPr/>
        </p:nvSpPr>
        <p:spPr>
          <a:xfrm>
            <a:off x="8763000" y="209550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996F98-6BC7-41D1-80D4-3C48FCA52E3A}"/>
              </a:ext>
            </a:extLst>
          </p:cNvPr>
          <p:cNvSpPr>
            <a:spLocks noGrp="1"/>
          </p:cNvSpPr>
          <p:nvPr/>
        </p:nvSpPr>
        <p:spPr>
          <a:xfrm>
            <a:off x="8763000" y="27241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유사도 계산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58D45B-19BB-4EA8-A296-2579883A018D}"/>
              </a:ext>
            </a:extLst>
          </p:cNvPr>
          <p:cNvSpPr>
            <a:spLocks noGrp="1"/>
          </p:cNvSpPr>
          <p:nvPr/>
        </p:nvSpPr>
        <p:spPr>
          <a:xfrm>
            <a:off x="8763000" y="3314700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↓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ECFBF0-9C0E-4123-8992-389147132FC0}"/>
              </a:ext>
            </a:extLst>
          </p:cNvPr>
          <p:cNvSpPr>
            <a:spLocks noGrp="1"/>
          </p:cNvSpPr>
          <p:nvPr/>
        </p:nvSpPr>
        <p:spPr>
          <a:xfrm>
            <a:off x="8763000" y="39433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호실 배정</a:t>
            </a:r>
          </a:p>
        </p:txBody>
      </p:sp>
    </p:spTree>
    <p:extLst>
      <p:ext uri="{BB962C8B-B14F-4D97-AF65-F5344CB8AC3E}">
        <p14:creationId xmlns:p14="http://schemas.microsoft.com/office/powerpoint/2010/main" val="179793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C6D570-CA4D-4179-ACA0-0AD69DF025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01  서비스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3C389D-3812-4BC1-BE7B-3B92E1C6DA7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무작위 배정의 불편을 줄이는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387CD6-1371-40DA-A928-02F14C1430C6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54217F-7665-49F3-A7BD-DF8D0FA5D362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5E6C84"/>
                </a:solidFill>
              </a:defRPr>
            </a:pPr>
            <a:r>
              <a:rPr sz="1800" b="1">
                <a:solidFill>
                  <a:srgbClr val="5E6C84"/>
                </a:solidFill>
              </a:rPr>
              <a:t>현재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7E3AC2-42B3-4782-8B7E-449BBADECB5C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32385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72B4D"/>
                </a:solidFill>
              </a:defRPr>
            </a:pPr>
            <a:r>
              <a:rPr sz="2250" b="1">
                <a:solidFill>
                  <a:srgbClr val="172B4D"/>
                </a:solidFill>
              </a:rPr>
              <a:t>기상·취침 시간</a:t>
            </a:r>
          </a:p>
          <a:p>
            <a:pPr algn="l">
              <a:defRPr sz="2250" b="1">
                <a:solidFill>
                  <a:srgbClr val="172B4D"/>
                </a:solidFill>
              </a:defRPr>
            </a:pPr>
            <a:r>
              <a:rPr sz="2250" b="1">
                <a:solidFill>
                  <a:srgbClr val="172B4D"/>
                </a:solidFill>
              </a:rPr>
              <a:t>정리정돈 기준</a:t>
            </a:r>
          </a:p>
          <a:p>
            <a:pPr algn="l">
              <a:defRPr sz="2250" b="1">
                <a:solidFill>
                  <a:srgbClr val="172B4D"/>
                </a:solidFill>
              </a:defRPr>
            </a:pPr>
            <a:r>
              <a:rPr sz="2250" b="1">
                <a:solidFill>
                  <a:srgbClr val="172B4D"/>
                </a:solidFill>
              </a:rPr>
              <a:t>소음 민감도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77CB0E-658A-40AA-8C5B-A8C827BA6592}"/>
              </a:ext>
            </a:extLst>
          </p:cNvPr>
          <p:cNvSpPr>
            <a:spLocks noGrp="1"/>
          </p:cNvSpPr>
          <p:nvPr/>
        </p:nvSpPr>
        <p:spPr>
          <a:xfrm>
            <a:off x="4333875" y="2762250"/>
            <a:ext cx="857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300" b="1">
                <a:solidFill>
                  <a:srgbClr val="2F6BFF"/>
                </a:solidFill>
              </a:defRPr>
            </a:pPr>
            <a:r>
              <a:rPr sz="330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D0C57C3-D9BA-4800-8C0A-EA1D801CA159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5810250" cy="228600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9F80E93-9DA2-41CC-9C4B-6D7E3F865DC2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4857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생활 습관 설문을 점수화하고</a:t>
            </a:r>
          </a:p>
          <a:p>
            <a:pPr algn="ctr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비슷한 학생끼리 자동 매칭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356152-5B87-4565-989A-D5F22F1BDD41}"/>
              </a:ext>
            </a:extLst>
          </p:cNvPr>
          <p:cNvSpPr>
            <a:spLocks noGrp="1"/>
          </p:cNvSpPr>
          <p:nvPr/>
        </p:nvSpPr>
        <p:spPr>
          <a:xfrm>
            <a:off x="1524000" y="4810125"/>
            <a:ext cx="914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5E6C84"/>
                </a:solidFill>
              </a:defRPr>
            </a:pPr>
            <a:r>
              <a:rPr sz="1650" b="0">
                <a:solidFill>
                  <a:srgbClr val="5E6C84"/>
                </a:solidFill>
              </a:rPr>
              <a:t>거동이 불편한 학생의 방 위치 등 특별 조건도 함께 고려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31A030-9B66-451C-A816-F98A55B0494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710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A8B5AD0-FF16-4BA7-A68D-59EEE4C456F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02  IPO 시스템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C2343B-566A-4CA5-B4FF-3C9B38C5D2B2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입력부터 배정 결과까지 한 흐름으로 연결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2D7184-BEA3-4CF7-9E06-AC9E48B65036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F4E67EA-8F3A-4AB7-BDC3-68659DAF4E4A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143250" cy="2857500"/>
          </a:xfrm>
          <a:prstGeom prst="roundRect">
            <a:avLst>
              <a:gd name="adj" fmla="val 5333"/>
            </a:avLst>
          </a:prstGeom>
          <a:solidFill>
            <a:srgbClr val="EEF4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399CFB6-F1AF-4F36-AF04-D1A0E2A8EF96}"/>
              </a:ext>
            </a:extLst>
          </p:cNvPr>
          <p:cNvSpPr>
            <a:spLocks noGrp="1"/>
          </p:cNvSpPr>
          <p:nvPr/>
        </p:nvSpPr>
        <p:spPr>
          <a:xfrm>
            <a:off x="952500" y="2238375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INPUT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F78821-0EF5-4A8B-A9C8-D8C0AEBA679B}"/>
              </a:ext>
            </a:extLst>
          </p:cNvPr>
          <p:cNvSpPr>
            <a:spLocks noGrp="1"/>
          </p:cNvSpPr>
          <p:nvPr/>
        </p:nvSpPr>
        <p:spPr>
          <a:xfrm>
            <a:off x="1009650" y="2809875"/>
            <a:ext cx="24955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기본 정보</a:t>
            </a:r>
          </a:p>
          <a:p>
            <a:pPr algn="ctr"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생활 습관 설문</a:t>
            </a:r>
          </a:p>
          <a:p>
            <a:pPr algn="ctr"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희망·특별 조건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1B07A46-2B1C-427A-A34F-D4E917EAE9DF}"/>
              </a:ext>
            </a:extLst>
          </p:cNvPr>
          <p:cNvSpPr>
            <a:spLocks noGrp="1"/>
          </p:cNvSpPr>
          <p:nvPr/>
        </p:nvSpPr>
        <p:spPr>
          <a:xfrm>
            <a:off x="4324350" y="2000250"/>
            <a:ext cx="3143250" cy="2857500"/>
          </a:xfrm>
          <a:prstGeom prst="roundRect">
            <a:avLst>
              <a:gd name="adj" fmla="val 5333"/>
            </a:avLst>
          </a:prstGeom>
          <a:solidFill>
            <a:srgbClr val="2F6B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7803819-68D4-4C60-851F-13A936388918}"/>
              </a:ext>
            </a:extLst>
          </p:cNvPr>
          <p:cNvSpPr>
            <a:spLocks noGrp="1"/>
          </p:cNvSpPr>
          <p:nvPr/>
        </p:nvSpPr>
        <p:spPr>
          <a:xfrm>
            <a:off x="4591050" y="2238375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47CB8D-EDB6-48B7-9389-9511A035ABAD}"/>
              </a:ext>
            </a:extLst>
          </p:cNvPr>
          <p:cNvSpPr>
            <a:spLocks noGrp="1"/>
          </p:cNvSpPr>
          <p:nvPr/>
        </p:nvSpPr>
        <p:spPr>
          <a:xfrm>
            <a:off x="4648200" y="2809875"/>
            <a:ext cx="24955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응답 점수화</a:t>
            </a:r>
          </a:p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학생 간 유사도 계산</a:t>
            </a:r>
          </a:p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제한 조건 반영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FC4308B-3779-4FC3-8382-3EEDB249B349}"/>
              </a:ext>
            </a:extLst>
          </p:cNvPr>
          <p:cNvSpPr>
            <a:spLocks noGrp="1"/>
          </p:cNvSpPr>
          <p:nvPr/>
        </p:nvSpPr>
        <p:spPr>
          <a:xfrm>
            <a:off x="7962900" y="2000250"/>
            <a:ext cx="3143250" cy="2857500"/>
          </a:xfrm>
          <a:prstGeom prst="roundRect">
            <a:avLst>
              <a:gd name="adj" fmla="val 5333"/>
            </a:avLst>
          </a:prstGeom>
          <a:solidFill>
            <a:srgbClr val="EEF4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A12712-5D16-4CE2-8EE1-99EA9CB822E6}"/>
              </a:ext>
            </a:extLst>
          </p:cNvPr>
          <p:cNvSpPr>
            <a:spLocks noGrp="1"/>
          </p:cNvSpPr>
          <p:nvPr/>
        </p:nvSpPr>
        <p:spPr>
          <a:xfrm>
            <a:off x="8229600" y="2238375"/>
            <a:ext cx="2609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OUTPUT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FA3291-0F26-432B-8372-C5D22F2241DC}"/>
              </a:ext>
            </a:extLst>
          </p:cNvPr>
          <p:cNvSpPr>
            <a:spLocks noGrp="1"/>
          </p:cNvSpPr>
          <p:nvPr/>
        </p:nvSpPr>
        <p:spPr>
          <a:xfrm>
            <a:off x="8286750" y="2809875"/>
            <a:ext cx="24955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호실·룸메이트</a:t>
            </a:r>
          </a:p>
          <a:p>
            <a:pPr algn="ctr"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유사도 점수</a:t>
            </a:r>
          </a:p>
          <a:p>
            <a:pPr algn="ctr">
              <a:defRPr sz="2025" b="1">
                <a:solidFill>
                  <a:srgbClr val="172B4D"/>
                </a:solidFill>
              </a:defRPr>
            </a:pPr>
            <a:r>
              <a:rPr sz="2025" b="1">
                <a:solidFill>
                  <a:srgbClr val="172B4D"/>
                </a:solidFill>
              </a:rPr>
              <a:t>관리자 배정표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72A499-190D-4335-98BB-2AC30B79106D}"/>
              </a:ext>
            </a:extLst>
          </p:cNvPr>
          <p:cNvSpPr>
            <a:spLocks noGrp="1"/>
          </p:cNvSpPr>
          <p:nvPr/>
        </p:nvSpPr>
        <p:spPr>
          <a:xfrm>
            <a:off x="3810000" y="30956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F6BFF"/>
                </a:solidFill>
              </a:defRPr>
            </a:pPr>
            <a:r>
              <a:rPr sz="255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542661-15A4-4ACA-8983-B98404072D55}"/>
              </a:ext>
            </a:extLst>
          </p:cNvPr>
          <p:cNvSpPr>
            <a:spLocks noGrp="1"/>
          </p:cNvSpPr>
          <p:nvPr/>
        </p:nvSpPr>
        <p:spPr>
          <a:xfrm>
            <a:off x="7448550" y="309562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F6BFF"/>
                </a:solidFill>
              </a:defRPr>
            </a:pPr>
            <a:r>
              <a:rPr sz="255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043CBE-2D8A-4B79-A9D1-AD0171713725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5E6C84"/>
                </a:solidFill>
              </a:defRPr>
            </a:pPr>
            <a:r>
              <a:rPr sz="1650" b="0">
                <a:solidFill>
                  <a:srgbClr val="5E6C84"/>
                </a:solidFill>
              </a:rPr>
              <a:t>설문 원본·유사도·배정 결과·수정 이력은 Supabase에 저장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893B1B-BF9D-432B-8827-C9AF416B1DC3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414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E7E2BBB-9164-4E65-B19E-D8C80AAE11E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03  화면 구성 스케치 · 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783597-771D-4900-ADE2-C631F3DC15A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설문 입력 화면에서 생활 습관을 수집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B453B2-31F0-4257-A04F-6FD91E528CE4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661145F-8F07-4AFC-8972-A8052959768D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858500" cy="3857625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661BA5-7242-4A3C-9170-AC1B74B16DE3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5E6C84"/>
                </a:solidFill>
              </a:defRPr>
            </a:pPr>
            <a:r>
              <a:rPr sz="1500" b="0">
                <a:solidFill>
                  <a:srgbClr val="5E6C84"/>
                </a:solidFill>
              </a:rPr>
              <a:t>학번·학년, 기상·취침 시간, 정리정돈, 소음 민감도, 선호 온도를 입력합니다.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34A995-6B13-434B-A904-B93356F6D16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04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55CB64C-86F7-B632-066A-FC9B6E4BA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36" y="1947713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3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233D2D4-31B1-4CC0-90F0-72324D96C6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03  화면 구성 스케치 · 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61439B-9D6D-461A-80E5-71CE7B81B9BD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학생은 배정 결과와 유사도를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63379A-840C-4952-BB0A-BDF22B1ADECF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734C9FE-C015-4886-B9FD-77B79D96B664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858500" cy="3857625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4B7508-D291-4E7D-8C3C-C68B2C98ADEA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5E6C84"/>
                </a:solidFill>
              </a:defRPr>
            </a:pPr>
            <a:r>
              <a:rPr sz="1500" b="0">
                <a:solidFill>
                  <a:srgbClr val="5E6C84"/>
                </a:solidFill>
              </a:rPr>
              <a:t>호실 번호, 룸메이트 정보, 생활 습관 비교와 유사도 점수를 보여 줍니다.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E8CC5E-DAF7-4D6C-BF86-99D5E1D697D0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05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0E9CFB-AA17-64DE-624E-5104573B3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36" y="1947713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8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ACA91D3-7178-413D-9C55-C7C2964F2E3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03  화면 구성 스케치 · 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7A9084-904C-43A6-9FC7-C8CDB319D71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관리자는 전체 배정을 확인하고 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34EDE7-CFF1-4A58-8449-22755F77F012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40ACE0F-611B-4D3E-9233-A1BA9B017BC0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10858500" cy="3857625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E6FDC5-8D2E-430D-8218-C83492656282}"/>
              </a:ext>
            </a:extLst>
          </p:cNvPr>
          <p:cNvSpPr>
            <a:spLocks noGrp="1"/>
          </p:cNvSpPr>
          <p:nvPr/>
        </p:nvSpPr>
        <p:spPr>
          <a:xfrm>
            <a:off x="1047750" y="57150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5E6C84"/>
                </a:solidFill>
              </a:defRPr>
            </a:pPr>
            <a:r>
              <a:rPr sz="1500" b="0">
                <a:solidFill>
                  <a:srgbClr val="5E6C84"/>
                </a:solidFill>
              </a:rPr>
              <a:t>배정 현황을 검색하고 필요한 조합은 수동으로 수정할 수 있습니다.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872718-0870-40D6-BE41-14E268EC8DF8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06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5CBA6B-97E9-12B2-08E8-E45B15ADB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36" y="1947713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32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A64206-5085-4693-B0FB-14B608604C5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04  개발 계획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9A7E35-D011-48B5-82E8-F5FA5B1A5C60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8차시 동안 프론트에서 DB까지 확장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A90136-940C-4EC2-B241-964C4C92DE67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F393687-D9E5-4145-A5A2-2CB675A01544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381125" cy="1666875"/>
          </a:xfrm>
          <a:prstGeom prst="roundRect">
            <a:avLst>
              <a:gd name="adj" fmla="val 8276"/>
            </a:avLst>
          </a:prstGeom>
          <a:solidFill>
            <a:srgbClr val="EEF4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8A91FF-84CB-405A-8C65-3E7A41781252}"/>
              </a:ext>
            </a:extLst>
          </p:cNvPr>
          <p:cNvSpPr>
            <a:spLocks noGrp="1"/>
          </p:cNvSpPr>
          <p:nvPr/>
        </p:nvSpPr>
        <p:spPr>
          <a:xfrm>
            <a:off x="800100" y="2743200"/>
            <a:ext cx="11525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1</a:t>
            </a:r>
          </a:p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준비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405384-615B-4BB9-B55A-B4EC052E5ABE}"/>
              </a:ext>
            </a:extLst>
          </p:cNvPr>
          <p:cNvSpPr>
            <a:spLocks noGrp="1"/>
          </p:cNvSpPr>
          <p:nvPr/>
        </p:nvSpPr>
        <p:spPr>
          <a:xfrm>
            <a:off x="2066925" y="3000375"/>
            <a:ext cx="333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E6C84"/>
                </a:solidFill>
              </a:defRPr>
            </a:pPr>
            <a:r>
              <a:rPr sz="1800" b="1">
                <a:solidFill>
                  <a:srgbClr val="5E6C84"/>
                </a:solidFill>
              </a:rPr>
              <a:t>→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035D120-8F52-4128-B660-11319595C33F}"/>
              </a:ext>
            </a:extLst>
          </p:cNvPr>
          <p:cNvSpPr>
            <a:spLocks noGrp="1"/>
          </p:cNvSpPr>
          <p:nvPr/>
        </p:nvSpPr>
        <p:spPr>
          <a:xfrm>
            <a:off x="2400300" y="2428875"/>
            <a:ext cx="1619250" cy="1666875"/>
          </a:xfrm>
          <a:prstGeom prst="roundRect">
            <a:avLst>
              <a:gd name="adj" fmla="val 7059"/>
            </a:avLst>
          </a:prstGeom>
          <a:solidFill>
            <a:srgbClr val="EEF4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03D7B3-CA8E-46D1-AD4A-50F03A2C8710}"/>
              </a:ext>
            </a:extLst>
          </p:cNvPr>
          <p:cNvSpPr>
            <a:spLocks noGrp="1"/>
          </p:cNvSpPr>
          <p:nvPr/>
        </p:nvSpPr>
        <p:spPr>
          <a:xfrm>
            <a:off x="2514600" y="2743200"/>
            <a:ext cx="1390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2–3</a:t>
            </a:r>
          </a:p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설문 UI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650392-E13B-4A5C-A141-223E519CDCF6}"/>
              </a:ext>
            </a:extLst>
          </p:cNvPr>
          <p:cNvSpPr>
            <a:spLocks noGrp="1"/>
          </p:cNvSpPr>
          <p:nvPr/>
        </p:nvSpPr>
        <p:spPr>
          <a:xfrm>
            <a:off x="4019550" y="3000375"/>
            <a:ext cx="333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E6C84"/>
                </a:solidFill>
              </a:defRPr>
            </a:pPr>
            <a:r>
              <a:rPr sz="1800" b="1">
                <a:solidFill>
                  <a:srgbClr val="5E6C84"/>
                </a:solidFill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40B7C5B-BEDD-4229-A48C-E2323D959D8A}"/>
              </a:ext>
            </a:extLst>
          </p:cNvPr>
          <p:cNvSpPr>
            <a:spLocks noGrp="1"/>
          </p:cNvSpPr>
          <p:nvPr/>
        </p:nvSpPr>
        <p:spPr>
          <a:xfrm>
            <a:off x="4352925" y="2428875"/>
            <a:ext cx="1619250" cy="1666875"/>
          </a:xfrm>
          <a:prstGeom prst="roundRect">
            <a:avLst>
              <a:gd name="adj" fmla="val 7059"/>
            </a:avLst>
          </a:prstGeom>
          <a:solidFill>
            <a:srgbClr val="EEF4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CB6565-ED40-4807-B164-F7B6B18AC105}"/>
              </a:ext>
            </a:extLst>
          </p:cNvPr>
          <p:cNvSpPr>
            <a:spLocks noGrp="1"/>
          </p:cNvSpPr>
          <p:nvPr/>
        </p:nvSpPr>
        <p:spPr>
          <a:xfrm>
            <a:off x="4467225" y="2743200"/>
            <a:ext cx="1390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4</a:t>
            </a:r>
          </a:p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매칭 로직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AB42B0-E93C-4497-A648-97B42C7FC9AB}"/>
              </a:ext>
            </a:extLst>
          </p:cNvPr>
          <p:cNvSpPr>
            <a:spLocks noGrp="1"/>
          </p:cNvSpPr>
          <p:nvPr/>
        </p:nvSpPr>
        <p:spPr>
          <a:xfrm>
            <a:off x="5972175" y="3000375"/>
            <a:ext cx="333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E6C84"/>
                </a:solidFill>
              </a:defRPr>
            </a:pPr>
            <a:r>
              <a:rPr sz="1800" b="1">
                <a:solidFill>
                  <a:srgbClr val="5E6C84"/>
                </a:solidFill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EEDCA97-7561-4DE9-8B94-3841339FA0F7}"/>
              </a:ext>
            </a:extLst>
          </p:cNvPr>
          <p:cNvSpPr>
            <a:spLocks noGrp="1"/>
          </p:cNvSpPr>
          <p:nvPr/>
        </p:nvSpPr>
        <p:spPr>
          <a:xfrm>
            <a:off x="6305550" y="2428875"/>
            <a:ext cx="1619250" cy="1666875"/>
          </a:xfrm>
          <a:prstGeom prst="roundRect">
            <a:avLst>
              <a:gd name="adj" fmla="val 7059"/>
            </a:avLst>
          </a:prstGeom>
          <a:solidFill>
            <a:srgbClr val="EEF4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FF1E6A-1068-4C60-BFDF-FD84ED05318E}"/>
              </a:ext>
            </a:extLst>
          </p:cNvPr>
          <p:cNvSpPr>
            <a:spLocks noGrp="1"/>
          </p:cNvSpPr>
          <p:nvPr/>
        </p:nvSpPr>
        <p:spPr>
          <a:xfrm>
            <a:off x="6419850" y="2743200"/>
            <a:ext cx="1390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5</a:t>
            </a:r>
          </a:p>
          <a:p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결과·배포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CA9B36-14C6-4640-9021-E2B00B39889B}"/>
              </a:ext>
            </a:extLst>
          </p:cNvPr>
          <p:cNvSpPr>
            <a:spLocks noGrp="1"/>
          </p:cNvSpPr>
          <p:nvPr/>
        </p:nvSpPr>
        <p:spPr>
          <a:xfrm>
            <a:off x="7924800" y="3000375"/>
            <a:ext cx="333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E6C84"/>
                </a:solidFill>
              </a:defRPr>
            </a:pPr>
            <a:r>
              <a:rPr sz="1800" b="1">
                <a:solidFill>
                  <a:srgbClr val="5E6C84"/>
                </a:solidFill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20A732-5A03-40C6-A723-50CA2873DED2}"/>
              </a:ext>
            </a:extLst>
          </p:cNvPr>
          <p:cNvSpPr>
            <a:spLocks noGrp="1"/>
          </p:cNvSpPr>
          <p:nvPr/>
        </p:nvSpPr>
        <p:spPr>
          <a:xfrm>
            <a:off x="8258175" y="2428875"/>
            <a:ext cx="1714500" cy="1666875"/>
          </a:xfrm>
          <a:prstGeom prst="roundRect">
            <a:avLst>
              <a:gd name="adj" fmla="val 6857"/>
            </a:avLst>
          </a:prstGeom>
          <a:solidFill>
            <a:srgbClr val="EAF8F3"/>
          </a:solidFill>
          <a:ln w="9525">
            <a:solidFill>
              <a:srgbClr val="00A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8939D0-8C17-4E40-BEEC-92D25507F747}"/>
              </a:ext>
            </a:extLst>
          </p:cNvPr>
          <p:cNvSpPr>
            <a:spLocks noGrp="1"/>
          </p:cNvSpPr>
          <p:nvPr/>
        </p:nvSpPr>
        <p:spPr>
          <a:xfrm>
            <a:off x="8372475" y="2743200"/>
            <a:ext cx="14859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A878"/>
                </a:solidFill>
              </a:defRPr>
            </a:pPr>
            <a:r>
              <a:rPr sz="1800" b="1">
                <a:solidFill>
                  <a:srgbClr val="00A878"/>
                </a:solidFill>
              </a:rPr>
              <a:t>6–7</a:t>
            </a:r>
          </a:p>
          <a:p>
            <a:pPr algn="ctr">
              <a:defRPr sz="1800" b="1">
                <a:solidFill>
                  <a:srgbClr val="00A878"/>
                </a:solidFill>
              </a:defRPr>
            </a:pPr>
            <a:r>
              <a:rPr sz="1800" b="1">
                <a:solidFill>
                  <a:srgbClr val="00A878"/>
                </a:solidFill>
              </a:rPr>
              <a:t>Supabase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5CA306-5EF6-4002-87EB-CB9A34BB7C7B}"/>
              </a:ext>
            </a:extLst>
          </p:cNvPr>
          <p:cNvSpPr>
            <a:spLocks noGrp="1"/>
          </p:cNvSpPr>
          <p:nvPr/>
        </p:nvSpPr>
        <p:spPr>
          <a:xfrm>
            <a:off x="9972675" y="3000375"/>
            <a:ext cx="333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5E6C84"/>
                </a:solidFill>
              </a:defRPr>
            </a:pPr>
            <a:r>
              <a:rPr sz="1800" b="1">
                <a:solidFill>
                  <a:srgbClr val="5E6C84"/>
                </a:solidFill>
              </a:rPr>
              <a:t>→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8D3F725-D6BF-45BE-9154-E58141D7CFB5}"/>
              </a:ext>
            </a:extLst>
          </p:cNvPr>
          <p:cNvSpPr>
            <a:spLocks noGrp="1"/>
          </p:cNvSpPr>
          <p:nvPr/>
        </p:nvSpPr>
        <p:spPr>
          <a:xfrm>
            <a:off x="10306050" y="2428875"/>
            <a:ext cx="1619250" cy="1666875"/>
          </a:xfrm>
          <a:prstGeom prst="roundRect">
            <a:avLst>
              <a:gd name="adj" fmla="val 7059"/>
            </a:avLst>
          </a:prstGeom>
          <a:solidFill>
            <a:srgbClr val="EAF8F3"/>
          </a:solidFill>
          <a:ln w="9525">
            <a:solidFill>
              <a:srgbClr val="00A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4A265D9-820E-4224-846F-604C8E4AD286}"/>
              </a:ext>
            </a:extLst>
          </p:cNvPr>
          <p:cNvSpPr>
            <a:spLocks noGrp="1"/>
          </p:cNvSpPr>
          <p:nvPr/>
        </p:nvSpPr>
        <p:spPr>
          <a:xfrm>
            <a:off x="10420350" y="2743200"/>
            <a:ext cx="13906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00A878"/>
                </a:solidFill>
              </a:defRPr>
            </a:pPr>
            <a:r>
              <a:rPr sz="1800" b="1">
                <a:solidFill>
                  <a:srgbClr val="00A878"/>
                </a:solidFill>
              </a:rPr>
              <a:t>8</a:t>
            </a:r>
          </a:p>
          <a:p>
            <a:pPr algn="ctr">
              <a:defRPr sz="1800" b="1">
                <a:solidFill>
                  <a:srgbClr val="00A878"/>
                </a:solidFill>
              </a:defRPr>
            </a:pPr>
            <a:r>
              <a:rPr sz="1800" b="1">
                <a:solidFill>
                  <a:srgbClr val="00A878"/>
                </a:solidFill>
              </a:rPr>
              <a:t>통합 테스트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31F940-5352-47A3-889B-3E3C1AB2B88E}"/>
              </a:ext>
            </a:extLst>
          </p:cNvPr>
          <p:cNvSpPr>
            <a:spLocks noGrp="1"/>
          </p:cNvSpPr>
          <p:nvPr/>
        </p:nvSpPr>
        <p:spPr>
          <a:xfrm>
            <a:off x="1428750" y="4810125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작은 기능부터 구현 → 매 차시 확인 → 마지막에 전체 흐름 검증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8414C3-A118-4BE3-A668-48F9E3A22AE3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8815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C64500-9FAF-4380-B830-D89D3E46B0A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05  어려움과 성장 목표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B66BC49-16E9-4FCB-A5D4-2CE4AC460C3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정확도와 연동 문제를 테스트로 해결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AE1B8B-4A1B-4EBD-9108-A2BCCDEAFAE6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819150" cy="47625"/>
          </a:xfrm>
          <a:prstGeom prst="rect">
            <a:avLst/>
          </a:prstGeom>
          <a:solidFill>
            <a:srgbClr val="2F6BFF"/>
          </a:solidFill>
          <a:ln w="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E5F1D60-5DB2-4896-8D01-BE06734C868D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4A261"/>
                </a:solidFill>
              </a:defRPr>
            </a:pPr>
            <a:r>
              <a:rPr sz="1650" b="1">
                <a:solidFill>
                  <a:srgbClr val="F4A261"/>
                </a:solidFill>
              </a:rPr>
              <a:t>예상 어려움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2F4195-9397-4571-A5CF-55CADAD4729E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2B4D"/>
                </a:solidFill>
              </a:defRPr>
            </a:pPr>
            <a:r>
              <a:rPr sz="2100" b="1">
                <a:solidFill>
                  <a:srgbClr val="172B4D"/>
                </a:solidFill>
              </a:rPr>
              <a:t>응답 기준 차이로</a:t>
            </a:r>
          </a:p>
          <a:p>
            <a:pPr algn="l">
              <a:defRPr sz="2100" b="1">
                <a:solidFill>
                  <a:srgbClr val="172B4D"/>
                </a:solidFill>
              </a:defRPr>
            </a:pPr>
            <a:r>
              <a:rPr sz="2100" b="1">
                <a:solidFill>
                  <a:srgbClr val="172B4D"/>
                </a:solidFill>
              </a:rPr>
              <a:t>유사도 정확도가 낮아질 수 있음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C45FFC-E10B-45FE-A205-32CE3DBA12A5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2B4D"/>
                </a:solidFill>
              </a:defRPr>
            </a:pPr>
            <a:r>
              <a:rPr sz="2100" b="1">
                <a:solidFill>
                  <a:srgbClr val="172B4D"/>
                </a:solidFill>
              </a:rPr>
              <a:t>Supabase 저장·조회 로직이</a:t>
            </a:r>
          </a:p>
          <a:p>
            <a:pPr algn="l">
              <a:defRPr sz="2100" b="1">
                <a:solidFill>
                  <a:srgbClr val="172B4D"/>
                </a:solidFill>
              </a:defRPr>
            </a:pPr>
            <a:r>
              <a:rPr sz="2100" b="1">
                <a:solidFill>
                  <a:srgbClr val="172B4D"/>
                </a:solidFill>
              </a:rPr>
              <a:t>처음이라 오류가 생길 수 있음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427B08-C4B8-408C-9555-057D084BFFEE}"/>
              </a:ext>
            </a:extLst>
          </p:cNvPr>
          <p:cNvSpPr>
            <a:spLocks noGrp="1"/>
          </p:cNvSpPr>
          <p:nvPr/>
        </p:nvSpPr>
        <p:spPr>
          <a:xfrm>
            <a:off x="5619750" y="1857375"/>
            <a:ext cx="5715000" cy="3286125"/>
          </a:xfrm>
          <a:prstGeom prst="roundRect">
            <a:avLst>
              <a:gd name="adj" fmla="val 4638"/>
            </a:avLst>
          </a:prstGeom>
          <a:solidFill>
            <a:srgbClr val="EEF4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A5D69C-FAA0-4FB1-99F2-726D89488684}"/>
              </a:ext>
            </a:extLst>
          </p:cNvPr>
          <p:cNvSpPr>
            <a:spLocks noGrp="1"/>
          </p:cNvSpPr>
          <p:nvPr/>
        </p:nvSpPr>
        <p:spPr>
          <a:xfrm>
            <a:off x="6000750" y="21717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대비 방법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44E877-43E0-432E-9C43-C85A1B754C39}"/>
              </a:ext>
            </a:extLst>
          </p:cNvPr>
          <p:cNvSpPr>
            <a:spLocks noGrp="1"/>
          </p:cNvSpPr>
          <p:nvPr/>
        </p:nvSpPr>
        <p:spPr>
          <a:xfrm>
            <a:off x="6000750" y="2762250"/>
            <a:ext cx="4953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가중치 조정 + 실제 데이터 반복 테스트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3B3F10-D998-4149-B3E0-B6D90828BEAA}"/>
              </a:ext>
            </a:extLst>
          </p:cNvPr>
          <p:cNvSpPr>
            <a:spLocks noGrp="1"/>
          </p:cNvSpPr>
          <p:nvPr/>
        </p:nvSpPr>
        <p:spPr>
          <a:xfrm>
            <a:off x="6000750" y="3733800"/>
            <a:ext cx="4953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오류 메시지 분석 + 공식 문서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6A02A41-1CFA-4662-89AD-07965A7626C6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5E6C84"/>
                </a:solidFill>
              </a:defRPr>
            </a:pPr>
            <a:r>
              <a:rPr sz="1650" b="0">
                <a:solidFill>
                  <a:srgbClr val="5E6C84"/>
                </a:solidFill>
              </a:rPr>
              <a:t>목표: 알고리즘·DB 연결 원리를 이해하고, 작은 기능부터 검증하는 습관 만들기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2C9852-4FAA-478A-9079-483504C6D22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5E6C84"/>
                </a:solidFill>
              </a:defRPr>
            </a:pPr>
            <a:r>
              <a:rPr sz="975" b="1">
                <a:solidFill>
                  <a:srgbClr val="5E6C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4430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AEC442C-946A-44EE-BF72-BED9B1A5BE9D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AFCBFF"/>
                </a:solidFill>
              </a:defRPr>
            </a:pPr>
            <a:r>
              <a:rPr sz="1650" b="1">
                <a:solidFill>
                  <a:srgbClr val="AFCBFF"/>
                </a:solidFill>
              </a:rPr>
              <a:t>생성형 AI 활용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5CBB4E-4F31-48AC-AC36-580F889A6497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7429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ChatGPT (Codex)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8FD8EF-3E42-433D-8796-3EDA5E35FE8B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6191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0">
                <a:solidFill>
                  <a:srgbClr val="D9E2EC"/>
                </a:solidFill>
              </a:defRPr>
            </a:pPr>
            <a:r>
              <a:rPr sz="2025" b="0">
                <a:solidFill>
                  <a:srgbClr val="D9E2EC"/>
                </a:solidFill>
              </a:rPr>
              <a:t>계획서·평가 기준 검토</a:t>
            </a:r>
          </a:p>
          <a:p>
            <a:pPr algn="l">
              <a:defRPr sz="2025" b="0">
                <a:solidFill>
                  <a:srgbClr val="D9E2EC"/>
                </a:solidFill>
              </a:defRPr>
            </a:pPr>
            <a:r>
              <a:rPr sz="2025" b="0">
                <a:solidFill>
                  <a:srgbClr val="D9E2EC"/>
                </a:solidFill>
              </a:rPr>
              <a:t>발표 흐름과 문장 구성</a:t>
            </a:r>
          </a:p>
          <a:p>
            <a:pPr algn="l">
              <a:defRPr sz="2025" b="0">
                <a:solidFill>
                  <a:srgbClr val="D9E2EC"/>
                </a:solidFill>
              </a:defRPr>
            </a:pPr>
            <a:r>
              <a:rPr sz="2025" b="0">
                <a:solidFill>
                  <a:srgbClr val="D9E2EC"/>
                </a:solidFill>
              </a:rPr>
              <a:t>PowerPoint 제작 및 렌더링 점검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30B8DB7-355E-4F09-A194-5C821EF578E2}"/>
              </a:ext>
            </a:extLst>
          </p:cNvPr>
          <p:cNvSpPr>
            <a:spLocks noGrp="1"/>
          </p:cNvSpPr>
          <p:nvPr/>
        </p:nvSpPr>
        <p:spPr>
          <a:xfrm>
            <a:off x="8096250" y="1714500"/>
            <a:ext cx="2857500" cy="2857500"/>
          </a:xfrm>
          <a:prstGeom prst="roundRect">
            <a:avLst>
              <a:gd name="adj" fmla="val 5333"/>
            </a:avLst>
          </a:prstGeom>
          <a:solidFill>
            <a:srgbClr val="2F6BFF"/>
          </a:solidFill>
          <a:ln w="952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13AC9D-09B9-4959-B138-DEF19F1CFC80}"/>
              </a:ext>
            </a:extLst>
          </p:cNvPr>
          <p:cNvSpPr>
            <a:spLocks noGrp="1"/>
          </p:cNvSpPr>
          <p:nvPr/>
        </p:nvSpPr>
        <p:spPr>
          <a:xfrm>
            <a:off x="8477250" y="2333625"/>
            <a:ext cx="2095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AI는 보조 도구로 사용하고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프로젝트 주제와 최종 판단은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학생이 직접 결정합니다.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54DBC2-69BF-4FCB-A5F3-13E3457EB983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AFCBFF"/>
                </a:solidFill>
              </a:defRPr>
            </a:pPr>
            <a:r>
              <a:rPr sz="1350" b="1">
                <a:solidFill>
                  <a:srgbClr val="AFCBFF"/>
                </a:solidFill>
              </a:rPr>
              <a:t>2602 김량후</a:t>
            </a:r>
          </a:p>
        </p:txBody>
      </p:sp>
    </p:spTree>
    <p:extLst>
      <p:ext uri="{BB962C8B-B14F-4D97-AF65-F5344CB8AC3E}">
        <p14:creationId xmlns:p14="http://schemas.microsoft.com/office/powerpoint/2010/main" val="18819366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DocSecurity>0</DocSecurity>
  <PresentationFormat>와이드스크린</PresentationFormat>
  <Paragraphs>128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량후 김</cp:lastModifiedBy>
  <cp:revision>1</cp:revision>
  <dcterms:created xsi:type="dcterms:W3CDTF">2026-08-30T05:33:05Z</dcterms:created>
  <dcterms:modified xsi:type="dcterms:W3CDTF">2026-08-30T05:46:18Z</dcterms:modified>
</cp:coreProperties>
</file>